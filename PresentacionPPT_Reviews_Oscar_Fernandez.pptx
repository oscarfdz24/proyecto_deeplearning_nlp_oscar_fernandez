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1" r:id="rId6"/>
    <p:sldId id="258" r:id="rId7"/>
    <p:sldId id="262" r:id="rId8"/>
    <p:sldId id="266" r:id="rId9"/>
    <p:sldId id="263" r:id="rId10"/>
    <p:sldId id="267" r:id="rId11"/>
    <p:sldId id="264" r:id="rId12"/>
    <p:sldId id="268" r:id="rId13"/>
    <p:sldId id="265" r:id="rId14"/>
    <p:sldId id="269" r:id="rId15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957B284-434F-4737-87F6-3C1E78FB2C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727AB7-3970-4FE4-A134-9D1EEE3EAD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B8E98-EB83-4166-8CDF-F8D5CC97446D}" type="datetimeFigureOut">
              <a:rPr lang="es-ES" smtClean="0"/>
              <a:t>18/04/2026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C17C43-A4DD-44E5-B373-511461F876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9C40B9-1970-4F62-BE22-5883A05E9A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5CBA8-3118-4264-9DB3-F09EDF8E1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3798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9F1FC-52BF-40A0-B8CD-E5DB9AB207F2}" type="datetimeFigureOut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CC092-CABA-48D0-B3F7-B535EA5228F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3344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959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711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6694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6548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501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4273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43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7308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8691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5404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322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F3AD093-6935-4E25-8E83-BEC3D2E3622E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CF8AC2-1C52-4F78-88EE-331D670B19A5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E6CF4E9-F423-4970-91B6-143DF72FA056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955445-6089-478A-9DA1-4738AC4A8C11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2D574B-5FDE-4FDF-8F45-99828D8C688F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9631C6-D8ED-4343-819F-B7AEF7D4E056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6FA238-7AE4-47C1-BF2A-706B9C8FFAA8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E6D5EDF-0088-49D6-AAFA-F513F5E3B893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E0ACB-2DC9-41EC-A846-D82D047DE411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FE6873-B7CD-47F1-B4BA-70026F4A4FD4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6AA1814-B970-47C5-B4E1-BCA0D77E15F3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8DB00A2C-96CA-430C-81E9-81B790CC7C63}" type="datetime1">
              <a:rPr lang="es-ES" noProof="0" smtClean="0"/>
              <a:t>18/04/2026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850" y="1045875"/>
            <a:ext cx="10993549" cy="895244"/>
          </a:xfrm>
        </p:spPr>
        <p:txBody>
          <a:bodyPr rtlCol="0">
            <a:noAutofit/>
          </a:bodyPr>
          <a:lstStyle/>
          <a:p>
            <a:r>
              <a:rPr lang="en" sz="4800" dirty="0">
                <a:solidFill>
                  <a:schemeClr val="bg1"/>
                </a:solidFill>
              </a:rPr>
              <a:t>Análisis de reseñas en Trust Pilot </a:t>
            </a:r>
            <a:endParaRPr lang="es-ES" sz="45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469" y="4911071"/>
            <a:ext cx="11699191" cy="1227216"/>
          </a:xfrm>
        </p:spPr>
        <p:txBody>
          <a:bodyPr rtlCol="0">
            <a:normAutofit fontScale="47500" lnSpcReduction="20000"/>
          </a:bodyPr>
          <a:lstStyle/>
          <a:p>
            <a:pPr algn="ctr"/>
            <a:r>
              <a:rPr lang="es-ES" sz="17600" dirty="0" err="1">
                <a:solidFill>
                  <a:schemeClr val="bg1"/>
                </a:solidFill>
                <a:latin typeface="Bauhaus 93" panose="04030905020B02020C02" pitchFamily="82" charset="0"/>
              </a:rPr>
              <a:t>sonicdirect</a:t>
            </a:r>
            <a:endParaRPr lang="es-ES" sz="17600" dirty="0">
              <a:solidFill>
                <a:schemeClr val="bg1"/>
              </a:solidFill>
              <a:latin typeface="Bauhaus 93" panose="04030905020B02020C02" pitchFamily="82" charset="0"/>
            </a:endParaRPr>
          </a:p>
          <a:p>
            <a:pPr rtl="0"/>
            <a:endParaRPr lang="es-ES" dirty="0">
              <a:solidFill>
                <a:srgbClr val="7CEBFF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333" y="4458388"/>
            <a:ext cx="1901853" cy="190185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4" y="4428067"/>
            <a:ext cx="1902117" cy="190211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417739" y="2404480"/>
            <a:ext cx="9301520" cy="1262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/>
          <p:cNvSpPr/>
          <p:nvPr/>
        </p:nvSpPr>
        <p:spPr>
          <a:xfrm>
            <a:off x="2470693" y="2373868"/>
            <a:ext cx="72455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 err="1" smtClean="0">
                <a:solidFill>
                  <a:schemeClr val="bg1"/>
                </a:solidFill>
                <a:latin typeface="Bauhaus 93" panose="04030905020B02020C02" pitchFamily="82" charset="0"/>
              </a:rPr>
              <a:t>Bert</a:t>
            </a:r>
            <a:r>
              <a:rPr lang="es-ES" sz="4000" b="1" dirty="0" smtClean="0">
                <a:solidFill>
                  <a:schemeClr val="bg1"/>
                </a:solidFill>
                <a:latin typeface="Bauhaus 93" panose="04030905020B02020C02" pitchFamily="82" charset="0"/>
              </a:rPr>
              <a:t> + K-</a:t>
            </a:r>
            <a:r>
              <a:rPr lang="es-ES" sz="4000" b="1" dirty="0" err="1" smtClean="0">
                <a:solidFill>
                  <a:schemeClr val="bg1"/>
                </a:solidFill>
                <a:latin typeface="Bauhaus 93" panose="04030905020B02020C02" pitchFamily="82" charset="0"/>
              </a:rPr>
              <a:t>means</a:t>
            </a:r>
            <a:r>
              <a:rPr lang="es-ES" sz="4000" b="1" dirty="0" smtClean="0">
                <a:solidFill>
                  <a:schemeClr val="bg1"/>
                </a:solidFill>
                <a:latin typeface="Bauhaus 93" panose="04030905020B02020C02" pitchFamily="82" charset="0"/>
              </a:rPr>
              <a:t> y comparativa con </a:t>
            </a:r>
            <a:r>
              <a:rPr lang="es-ES" sz="4000" b="1" dirty="0" err="1" smtClean="0">
                <a:solidFill>
                  <a:schemeClr val="bg1"/>
                </a:solidFill>
                <a:latin typeface="Bauhaus 93" panose="04030905020B02020C02" pitchFamily="82" charset="0"/>
              </a:rPr>
              <a:t>BERTopic</a:t>
            </a:r>
            <a:endParaRPr lang="es-ES" sz="4000" b="1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ángulo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39" y="5287418"/>
            <a:ext cx="11029616" cy="718870"/>
          </a:xfrm>
        </p:spPr>
        <p:txBody>
          <a:bodyPr rtlCol="0">
            <a:normAutofit/>
          </a:bodyPr>
          <a:lstStyle/>
          <a:p>
            <a:pPr algn="ctr" rtl="0"/>
            <a:r>
              <a:rPr lang="es-ES" dirty="0" smtClean="0">
                <a:solidFill>
                  <a:srgbClr val="FFFEFF"/>
                </a:solidFill>
              </a:rPr>
              <a:t>Objetivos del análisis</a:t>
            </a:r>
            <a:endParaRPr lang="es-ES" dirty="0">
              <a:solidFill>
                <a:srgbClr val="FFFEFF"/>
              </a:solidFill>
            </a:endParaRP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998034"/>
              </p:ext>
            </p:extLst>
          </p:nvPr>
        </p:nvGraphicFramePr>
        <p:xfrm>
          <a:off x="611475" y="690503"/>
          <a:ext cx="10963544" cy="4279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1772">
                  <a:extLst>
                    <a:ext uri="{9D8B030D-6E8A-4147-A177-3AD203B41FA5}">
                      <a16:colId xmlns:a16="http://schemas.microsoft.com/office/drawing/2014/main" val="3825263458"/>
                    </a:ext>
                  </a:extLst>
                </a:gridCol>
                <a:gridCol w="5481772">
                  <a:extLst>
                    <a:ext uri="{9D8B030D-6E8A-4147-A177-3AD203B41FA5}">
                      <a16:colId xmlns:a16="http://schemas.microsoft.com/office/drawing/2014/main" val="1875696273"/>
                    </a:ext>
                  </a:extLst>
                </a:gridCol>
              </a:tblGrid>
              <a:tr h="355611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Objetivos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Tareas a realizar y observaciones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20620"/>
                  </a:ext>
                </a:extLst>
              </a:tr>
              <a:tr h="62231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Analizar reseñas de </a:t>
                      </a:r>
                      <a:r>
                        <a:rPr lang="es-ES" sz="1200" dirty="0" err="1" smtClean="0"/>
                        <a:t>Trustpilot</a:t>
                      </a:r>
                      <a:r>
                        <a:rPr lang="es-ES" sz="1200" dirty="0" smtClean="0"/>
                        <a:t> de Sonic </a:t>
                      </a:r>
                      <a:r>
                        <a:rPr lang="es-ES" sz="1200" dirty="0" err="1" smtClean="0"/>
                        <a:t>Direct</a:t>
                      </a:r>
                      <a:r>
                        <a:rPr lang="es-ES" sz="1200" dirty="0" smtClean="0"/>
                        <a:t> dentro del sector </a:t>
                      </a:r>
                      <a:r>
                        <a:rPr lang="es-ES" sz="1200" dirty="0" err="1" smtClean="0"/>
                        <a:t>Electronics</a:t>
                      </a:r>
                      <a:r>
                        <a:rPr lang="es-ES" sz="1200" dirty="0" smtClean="0"/>
                        <a:t> &amp; </a:t>
                      </a:r>
                      <a:r>
                        <a:rPr lang="es-ES" sz="1200" dirty="0" err="1" smtClean="0"/>
                        <a:t>Technology</a:t>
                      </a:r>
                      <a:r>
                        <a:rPr lang="es-ES" sz="1200" dirty="0" smtClean="0"/>
                        <a:t>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Se tomó como empresa objetivo: www.sonicdirect.co.uk.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143885"/>
                  </a:ext>
                </a:extLst>
              </a:tr>
              <a:tr h="62231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Comparar su comportamiento frente a empresas competidoras del mismo sector.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Se filtró la competencia usando la misma categoría de </a:t>
                      </a:r>
                      <a:r>
                        <a:rPr lang="es-ES" sz="1200" dirty="0" err="1" smtClean="0"/>
                        <a:t>Trustpilot</a:t>
                      </a:r>
                      <a:r>
                        <a:rPr lang="es-ES" sz="1200" dirty="0" smtClean="0"/>
                        <a:t>: </a:t>
                      </a:r>
                      <a:r>
                        <a:rPr lang="es-ES" sz="1200" dirty="0" err="1" smtClean="0"/>
                        <a:t>Electronics</a:t>
                      </a:r>
                      <a:r>
                        <a:rPr lang="es-ES" sz="1200" dirty="0" smtClean="0"/>
                        <a:t> &amp; </a:t>
                      </a:r>
                      <a:r>
                        <a:rPr lang="es-ES" sz="1200" dirty="0" err="1" smtClean="0"/>
                        <a:t>Technology</a:t>
                      </a:r>
                      <a:r>
                        <a:rPr lang="es-ES" sz="1200" dirty="0" smtClean="0"/>
                        <a:t>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441810"/>
                  </a:ext>
                </a:extLst>
              </a:tr>
              <a:tr h="80012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Identificar los principales temas de conversación en las reseñas mediante NLP.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 smtClean="0"/>
                        <a:t>Dataset</a:t>
                      </a:r>
                      <a:r>
                        <a:rPr lang="es-ES" sz="1200" dirty="0" smtClean="0"/>
                        <a:t> total: 123.181 reseñas, con columnas </a:t>
                      </a:r>
                      <a:r>
                        <a:rPr lang="es-ES" sz="1200" dirty="0" err="1" smtClean="0"/>
                        <a:t>category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company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description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title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review</a:t>
                      </a:r>
                      <a:r>
                        <a:rPr lang="es-ES" sz="1200" dirty="0" smtClean="0"/>
                        <a:t>, </a:t>
                      </a:r>
                      <a:r>
                        <a:rPr lang="es-ES" sz="1200" dirty="0" err="1" smtClean="0"/>
                        <a:t>stars</a:t>
                      </a:r>
                      <a:r>
                        <a:rPr lang="es-ES" sz="1200" dirty="0" smtClean="0"/>
                        <a:t>. Sonic </a:t>
                      </a:r>
                      <a:r>
                        <a:rPr lang="es-ES" sz="1200" dirty="0" err="1" smtClean="0"/>
                        <a:t>Direct</a:t>
                      </a:r>
                      <a:r>
                        <a:rPr lang="es-ES" sz="1200" dirty="0" smtClean="0"/>
                        <a:t> tiene 100 reseñas.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 smtClean="0"/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630300"/>
                  </a:ext>
                </a:extLst>
              </a:tr>
              <a:tr h="44451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Medir el sentimiento de las reseñas y relacionarlo con los temas detectados.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La competencia tiene 5.496 reseñas, pertenecientes a 68 empresas del mismo sector.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82422"/>
                  </a:ext>
                </a:extLst>
              </a:tr>
              <a:tr h="62231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Detectar fortalezas y puntos de dolor de Sonic </a:t>
                      </a:r>
                      <a:r>
                        <a:rPr lang="es-ES" sz="1200" dirty="0" err="1" smtClean="0"/>
                        <a:t>Direct</a:t>
                      </a:r>
                      <a:r>
                        <a:rPr lang="es-ES" sz="1200" dirty="0" smtClean="0"/>
                        <a:t> frente a la competencia.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smtClean="0"/>
                        <a:t>Comparativa</a:t>
                      </a:r>
                      <a:r>
                        <a:rPr lang="es-ES" sz="1200" baseline="0" dirty="0" smtClean="0"/>
                        <a:t> entre el uso de distintos modelos de DL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39936"/>
                  </a:ext>
                </a:extLst>
              </a:tr>
              <a:tr h="71122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smtClean="0"/>
                        <a:t>Extraer conclusiones accionables sobre experiencia de compra, entrega, instalación, producto y postventa.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 smtClean="0"/>
                        <a:t>Insights</a:t>
                      </a:r>
                      <a:r>
                        <a:rPr lang="es-ES" sz="1200" baseline="0" dirty="0" smtClean="0"/>
                        <a:t> observados a lo largo del proyecto para la mejora en áreas débiles para la empresa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7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447764"/>
            <a:ext cx="11029616" cy="988332"/>
          </a:xfrm>
        </p:spPr>
        <p:txBody>
          <a:bodyPr rtlCol="0"/>
          <a:lstStyle/>
          <a:p>
            <a:pPr rtl="0"/>
            <a:r>
              <a:rPr lang="es-ES" dirty="0" smtClean="0"/>
              <a:t>Análisis de sentimiento </a:t>
            </a:r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6937694" y="2362573"/>
            <a:ext cx="467311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1" dirty="0"/>
              <a:t>Resultados clave</a:t>
            </a:r>
            <a:r>
              <a:rPr lang="es-ES" b="1" i="1" dirty="0" smtClean="0"/>
              <a:t>:</a:t>
            </a:r>
          </a:p>
          <a:p>
            <a:r>
              <a:rPr lang="es-ES" dirty="0" smtClean="0"/>
              <a:t>Sonic </a:t>
            </a:r>
            <a:r>
              <a:rPr lang="es-ES" dirty="0" err="1"/>
              <a:t>Direct</a:t>
            </a:r>
            <a:r>
              <a:rPr lang="es-ES" dirty="0"/>
              <a:t> presenta un 71% de reseñas negativas frente a un 29% </a:t>
            </a:r>
            <a:r>
              <a:rPr lang="es-ES" dirty="0" smtClean="0"/>
              <a:t>positivas. </a:t>
            </a:r>
          </a:p>
          <a:p>
            <a:r>
              <a:rPr lang="es-ES" dirty="0" smtClean="0"/>
              <a:t>La </a:t>
            </a:r>
            <a:r>
              <a:rPr lang="es-ES" dirty="0"/>
              <a:t>competencia también muestra predominancia negativa, pero ligeramente menor (~</a:t>
            </a:r>
            <a:r>
              <a:rPr lang="es-ES" dirty="0" smtClean="0"/>
              <a:t>69.6%), </a:t>
            </a:r>
            <a:r>
              <a:rPr lang="es-ES" dirty="0" smtClean="0"/>
              <a:t>frente a un </a:t>
            </a:r>
            <a:r>
              <a:rPr lang="es-ES" dirty="0" smtClean="0"/>
              <a:t>30.4% </a:t>
            </a:r>
            <a:r>
              <a:rPr lang="es-ES" dirty="0" smtClean="0"/>
              <a:t>de reseñas positivas</a:t>
            </a:r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6937694" y="4363868"/>
            <a:ext cx="46731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1" dirty="0" err="1" smtClean="0"/>
              <a:t>Insight</a:t>
            </a:r>
            <a:r>
              <a:rPr lang="es-ES" b="1" i="1" dirty="0" smtClean="0"/>
              <a:t> clave:</a:t>
            </a:r>
          </a:p>
          <a:p>
            <a:r>
              <a:rPr lang="es-ES" dirty="0" smtClean="0"/>
              <a:t>Sonic </a:t>
            </a:r>
            <a:r>
              <a:rPr lang="es-ES" dirty="0" err="1"/>
              <a:t>Direct</a:t>
            </a:r>
            <a:r>
              <a:rPr lang="es-ES" dirty="0"/>
              <a:t> tiene una percepción ligeramente peor que la competencia, lo que indica una experiencia de cliente menos satisfactoria en términos generales.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54" y="2362573"/>
            <a:ext cx="6041976" cy="374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54769"/>
            <a:ext cx="11029616" cy="988332"/>
          </a:xfrm>
        </p:spPr>
        <p:txBody>
          <a:bodyPr rtlCol="0"/>
          <a:lstStyle/>
          <a:p>
            <a:pPr rtl="0"/>
            <a:r>
              <a:rPr lang="es-ES" dirty="0" smtClean="0"/>
              <a:t>Análisis de </a:t>
            </a:r>
            <a:r>
              <a:rPr lang="es-ES" dirty="0" err="1" smtClean="0"/>
              <a:t>Topics</a:t>
            </a:r>
            <a:r>
              <a:rPr lang="es-ES" dirty="0"/>
              <a:t>:</a:t>
            </a:r>
            <a:r>
              <a:rPr lang="es-ES" dirty="0" smtClean="0"/>
              <a:t> k-</a:t>
            </a:r>
            <a:r>
              <a:rPr lang="es-ES" dirty="0" err="1" smtClean="0"/>
              <a:t>means</a:t>
            </a:r>
            <a:r>
              <a:rPr lang="es-ES" dirty="0" smtClean="0"/>
              <a:t> + </a:t>
            </a:r>
            <a:r>
              <a:rPr lang="es-ES" dirty="0" err="1" smtClean="0"/>
              <a:t>bert</a:t>
            </a:r>
            <a:endParaRPr lang="es-ES" dirty="0"/>
          </a:p>
        </p:txBody>
      </p:sp>
      <p:sp>
        <p:nvSpPr>
          <p:cNvPr id="3" name="Rectángulo 2"/>
          <p:cNvSpPr/>
          <p:nvPr/>
        </p:nvSpPr>
        <p:spPr>
          <a:xfrm>
            <a:off x="6096001" y="4246012"/>
            <a:ext cx="55148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1" dirty="0" err="1" smtClean="0"/>
              <a:t>Insight</a:t>
            </a:r>
            <a:r>
              <a:rPr lang="es-ES" b="1" i="1" dirty="0" smtClean="0"/>
              <a:t> clave:</a:t>
            </a:r>
          </a:p>
          <a:p>
            <a:r>
              <a:rPr lang="es-ES" dirty="0" smtClean="0"/>
              <a:t>Los </a:t>
            </a:r>
            <a:r>
              <a:rPr lang="es-ES" dirty="0"/>
              <a:t>temas principales en ambas partes están relacionados con logística, producto y atención al cliente, lo que confirma que estos son los factores clave en la experiencia del usuario.</a:t>
            </a:r>
          </a:p>
        </p:txBody>
      </p:sp>
      <p:sp>
        <p:nvSpPr>
          <p:cNvPr id="5" name="Rectángulo 4"/>
          <p:cNvSpPr/>
          <p:nvPr/>
        </p:nvSpPr>
        <p:spPr>
          <a:xfrm>
            <a:off x="581193" y="4384512"/>
            <a:ext cx="49135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1" dirty="0" smtClean="0"/>
              <a:t>Interpretación:</a:t>
            </a:r>
          </a:p>
          <a:p>
            <a:r>
              <a:rPr lang="es-ES" dirty="0" smtClean="0"/>
              <a:t>Sonic </a:t>
            </a:r>
            <a:r>
              <a:rPr lang="es-ES" dirty="0" err="1"/>
              <a:t>Direct</a:t>
            </a:r>
            <a:r>
              <a:rPr lang="es-ES" dirty="0"/>
              <a:t> concentra más volumen en problemas de entrega, mientras que la competencia muestra mayor peso en soporte postventa.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70" y="1937856"/>
            <a:ext cx="5550556" cy="236276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026" y="1937856"/>
            <a:ext cx="5589432" cy="236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1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54769"/>
            <a:ext cx="11029616" cy="988332"/>
          </a:xfrm>
        </p:spPr>
        <p:txBody>
          <a:bodyPr rtlCol="0"/>
          <a:lstStyle/>
          <a:p>
            <a:pPr rtl="0"/>
            <a:r>
              <a:rPr lang="es-ES" dirty="0" smtClean="0"/>
              <a:t>Análisis de </a:t>
            </a:r>
            <a:r>
              <a:rPr lang="es-ES" dirty="0" err="1" smtClean="0"/>
              <a:t>Topics</a:t>
            </a:r>
            <a:r>
              <a:rPr lang="es-ES" dirty="0" smtClean="0"/>
              <a:t>: Distribución de </a:t>
            </a:r>
            <a:r>
              <a:rPr lang="es-ES" dirty="0" err="1" smtClean="0"/>
              <a:t>reviews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2178206"/>
            <a:ext cx="6675557" cy="388703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7721600" y="2690562"/>
            <a:ext cx="37507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1" dirty="0" err="1"/>
              <a:t>Insight</a:t>
            </a:r>
            <a:r>
              <a:rPr lang="es-ES" b="1" i="1" dirty="0"/>
              <a:t> clave</a:t>
            </a:r>
            <a:r>
              <a:rPr lang="es-ES" b="1" i="1" dirty="0" smtClean="0"/>
              <a:t>:</a:t>
            </a:r>
            <a:endParaRPr lang="es-ES" dirty="0" smtClean="0">
              <a:latin typeface="Segoe WPC"/>
            </a:endParaRPr>
          </a:p>
          <a:p>
            <a:r>
              <a:rPr lang="es-ES" dirty="0" smtClean="0">
                <a:latin typeface="Segoe WPC"/>
              </a:rPr>
              <a:t>Sonic </a:t>
            </a:r>
            <a:r>
              <a:rPr lang="es-ES" dirty="0" err="1">
                <a:latin typeface="Segoe WPC"/>
              </a:rPr>
              <a:t>Direct</a:t>
            </a:r>
            <a:r>
              <a:rPr lang="es-ES" dirty="0">
                <a:latin typeface="Segoe WPC"/>
              </a:rPr>
              <a:t> concentra </a:t>
            </a:r>
            <a:r>
              <a:rPr lang="es-ES" dirty="0" smtClean="0">
                <a:latin typeface="Segoe WPC"/>
              </a:rPr>
              <a:t>más </a:t>
            </a:r>
            <a:r>
              <a:rPr lang="es-ES" dirty="0" err="1">
                <a:latin typeface="Segoe WPC"/>
              </a:rPr>
              <a:t>reviews</a:t>
            </a:r>
            <a:r>
              <a:rPr lang="es-ES" dirty="0">
                <a:latin typeface="Segoe WPC"/>
              </a:rPr>
              <a:t> en entrega, postventa e incidencias de servicio, mientras que en la competencia el reparto es mas equilibrado entre servicio, compra y </a:t>
            </a:r>
            <a:r>
              <a:rPr lang="es-ES" dirty="0" smtClean="0">
                <a:latin typeface="Segoe WPC"/>
              </a:rPr>
              <a:t>logística. </a:t>
            </a:r>
          </a:p>
          <a:p>
            <a:r>
              <a:rPr lang="es-ES" dirty="0" smtClean="0">
                <a:latin typeface="Segoe WPC"/>
              </a:rPr>
              <a:t>Esto </a:t>
            </a:r>
            <a:r>
              <a:rPr lang="es-ES" dirty="0">
                <a:latin typeface="Segoe WPC"/>
              </a:rPr>
              <a:t>sugiere que en Sonic </a:t>
            </a:r>
            <a:r>
              <a:rPr lang="es-ES" dirty="0" err="1">
                <a:latin typeface="Segoe WPC"/>
              </a:rPr>
              <a:t>Direct</a:t>
            </a:r>
            <a:r>
              <a:rPr lang="es-ES" dirty="0">
                <a:latin typeface="Segoe WPC"/>
              </a:rPr>
              <a:t> pesan </a:t>
            </a:r>
            <a:r>
              <a:rPr lang="es-ES" dirty="0" smtClean="0">
                <a:latin typeface="Segoe WPC"/>
              </a:rPr>
              <a:t>más </a:t>
            </a:r>
            <a:r>
              <a:rPr lang="es-ES" dirty="0">
                <a:latin typeface="Segoe WPC"/>
              </a:rPr>
              <a:t>los problemas operativos </a:t>
            </a:r>
            <a:r>
              <a:rPr lang="es-ES" dirty="0" smtClean="0">
                <a:latin typeface="Segoe WPC"/>
              </a:rPr>
              <a:t>después </a:t>
            </a:r>
            <a:r>
              <a:rPr lang="es-ES" dirty="0">
                <a:latin typeface="Segoe WPC"/>
              </a:rPr>
              <a:t>de la compra.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770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167596"/>
            <a:ext cx="11029616" cy="988332"/>
          </a:xfrm>
        </p:spPr>
        <p:txBody>
          <a:bodyPr rtlCol="0"/>
          <a:lstStyle/>
          <a:p>
            <a:pPr rtl="0"/>
            <a:r>
              <a:rPr lang="es-ES" dirty="0" smtClean="0"/>
              <a:t>Análisis de </a:t>
            </a:r>
            <a:r>
              <a:rPr lang="es-ES" dirty="0" err="1" smtClean="0"/>
              <a:t>Topics</a:t>
            </a:r>
            <a:r>
              <a:rPr lang="es-ES" dirty="0"/>
              <a:t>:</a:t>
            </a:r>
            <a:r>
              <a:rPr lang="es-ES" dirty="0" smtClean="0"/>
              <a:t> </a:t>
            </a:r>
            <a:r>
              <a:rPr lang="es-ES" dirty="0" smtClean="0"/>
              <a:t>Comparación de sentimiento</a:t>
            </a:r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32" y="2608976"/>
            <a:ext cx="5724569" cy="307876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2608976"/>
            <a:ext cx="5705327" cy="307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2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167596"/>
            <a:ext cx="11029616" cy="988332"/>
          </a:xfrm>
        </p:spPr>
        <p:txBody>
          <a:bodyPr rtlCol="0"/>
          <a:lstStyle/>
          <a:p>
            <a:pPr rtl="0"/>
            <a:r>
              <a:rPr lang="es-ES" dirty="0" smtClean="0"/>
              <a:t>Análisis de </a:t>
            </a:r>
            <a:r>
              <a:rPr lang="es-ES" dirty="0" err="1" smtClean="0"/>
              <a:t>Topics</a:t>
            </a:r>
            <a:r>
              <a:rPr lang="es-ES" dirty="0"/>
              <a:t>:</a:t>
            </a:r>
            <a:r>
              <a:rPr lang="es-ES" dirty="0" smtClean="0"/>
              <a:t> k-</a:t>
            </a:r>
            <a:r>
              <a:rPr lang="es-ES" dirty="0" err="1" smtClean="0"/>
              <a:t>means</a:t>
            </a:r>
            <a:r>
              <a:rPr lang="es-ES" dirty="0" smtClean="0"/>
              <a:t> + </a:t>
            </a:r>
            <a:r>
              <a:rPr lang="es-ES" dirty="0" err="1" smtClean="0"/>
              <a:t>bert</a:t>
            </a:r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6821084" y="1951782"/>
            <a:ext cx="422721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b="1" dirty="0" smtClean="0"/>
              <a:t>Sonic </a:t>
            </a:r>
            <a:r>
              <a:rPr lang="es-ES" sz="1400" b="1" dirty="0" err="1"/>
              <a:t>Direct</a:t>
            </a:r>
            <a:r>
              <a:rPr lang="es-ES" sz="1400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 smtClean="0"/>
              <a:t>Delivery</a:t>
            </a:r>
            <a:r>
              <a:rPr lang="es-ES" sz="1400" b="1" dirty="0"/>
              <a:t>:</a:t>
            </a:r>
            <a:r>
              <a:rPr lang="es-ES" sz="1400" dirty="0" smtClean="0"/>
              <a:t> </a:t>
            </a:r>
            <a:r>
              <a:rPr lang="es-ES" sz="1400" dirty="0" smtClean="0"/>
              <a:t>96</a:t>
            </a:r>
            <a:r>
              <a:rPr lang="es-ES" sz="1400" dirty="0" smtClean="0"/>
              <a:t>% </a:t>
            </a:r>
            <a:r>
              <a:rPr lang="es-ES" sz="1400" dirty="0"/>
              <a:t>negativo (principal problema</a:t>
            </a:r>
            <a:r>
              <a:rPr lang="es-ES" sz="1400" dirty="0" smtClean="0"/>
              <a:t>).</a:t>
            </a:r>
            <a:endParaRPr lang="es-E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smtClean="0"/>
              <a:t>TV </a:t>
            </a:r>
            <a:r>
              <a:rPr lang="es-ES" sz="1400" b="1" dirty="0"/>
              <a:t>&amp; </a:t>
            </a:r>
            <a:r>
              <a:rPr lang="es-ES" sz="1400" b="1" dirty="0" err="1" smtClean="0"/>
              <a:t>electronics</a:t>
            </a:r>
            <a:r>
              <a:rPr lang="es-ES" sz="1400" b="1" dirty="0" smtClean="0"/>
              <a:t>: </a:t>
            </a:r>
            <a:r>
              <a:rPr lang="es-ES" sz="1400" dirty="0" smtClean="0"/>
              <a:t>87% negativo.</a:t>
            </a:r>
            <a:endParaRPr lang="es-E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smtClean="0"/>
              <a:t>Sales </a:t>
            </a:r>
            <a:r>
              <a:rPr lang="es-ES" sz="1400" b="1" dirty="0" err="1" smtClean="0"/>
              <a:t>support</a:t>
            </a:r>
            <a:r>
              <a:rPr lang="es-ES" sz="1400" b="1" dirty="0" smtClean="0"/>
              <a:t>: </a:t>
            </a:r>
            <a:r>
              <a:rPr lang="es-ES" sz="1400" dirty="0"/>
              <a:t>equilibrio pero negativo </a:t>
            </a:r>
            <a:r>
              <a:rPr lang="es-ES" sz="1400" dirty="0" smtClean="0"/>
              <a:t>dominante.</a:t>
            </a:r>
            <a:endParaRPr lang="es-E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 smtClean="0"/>
              <a:t>Instalation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experience</a:t>
            </a:r>
            <a:r>
              <a:rPr lang="es-ES" sz="1400" b="1" dirty="0" smtClean="0"/>
              <a:t>:</a:t>
            </a:r>
            <a:r>
              <a:rPr lang="es-ES" sz="1400" dirty="0" smtClean="0"/>
              <a:t> </a:t>
            </a:r>
            <a:r>
              <a:rPr lang="es-ES" sz="1400" dirty="0" smtClean="0"/>
              <a:t>único </a:t>
            </a:r>
            <a:r>
              <a:rPr lang="es-ES" sz="1400" dirty="0"/>
              <a:t>tema con tendencia </a:t>
            </a:r>
            <a:r>
              <a:rPr lang="es-ES" sz="1400" dirty="0" smtClean="0"/>
              <a:t>positiva.</a:t>
            </a:r>
            <a:endParaRPr lang="es-ES" sz="1400" dirty="0" smtClean="0"/>
          </a:p>
          <a:p>
            <a:r>
              <a:rPr lang="es-ES" sz="1400" b="1" dirty="0" smtClean="0"/>
              <a:t>Competencia: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 smtClean="0"/>
              <a:t>Delivery</a:t>
            </a:r>
            <a:r>
              <a:rPr lang="es-ES" sz="1400" b="1" dirty="0" smtClean="0"/>
              <a:t> and </a:t>
            </a:r>
            <a:r>
              <a:rPr lang="es-ES" sz="1400" b="1" dirty="0" err="1" smtClean="0"/>
              <a:t>ordering</a:t>
            </a:r>
            <a:r>
              <a:rPr lang="es-ES" sz="1400" b="1" dirty="0" smtClean="0"/>
              <a:t> </a:t>
            </a:r>
            <a:r>
              <a:rPr lang="es-ES" sz="1400" dirty="0"/>
              <a:t>también es negativo, pero menos </a:t>
            </a:r>
            <a:r>
              <a:rPr lang="es-ES" sz="1400" dirty="0" smtClean="0"/>
              <a:t>extremo.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 smtClean="0"/>
              <a:t>Website</a:t>
            </a:r>
            <a:r>
              <a:rPr lang="es-ES" sz="1400" dirty="0" smtClean="0"/>
              <a:t> también concentra un alto volumen negativo.</a:t>
            </a:r>
            <a:endParaRPr lang="es-E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 smtClean="0"/>
              <a:t>Customer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service</a:t>
            </a:r>
            <a:r>
              <a:rPr lang="es-ES" sz="1400" dirty="0" err="1" smtClean="0"/>
              <a:t>es</a:t>
            </a:r>
            <a:r>
              <a:rPr lang="es-ES" sz="1400" dirty="0" smtClean="0"/>
              <a:t> </a:t>
            </a:r>
            <a:r>
              <a:rPr lang="es-ES" sz="1400" dirty="0"/>
              <a:t>claramente </a:t>
            </a:r>
            <a:r>
              <a:rPr lang="es-ES" sz="1400" dirty="0" smtClean="0"/>
              <a:t>positivo.</a:t>
            </a:r>
            <a:endParaRPr lang="es-E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smtClean="0"/>
              <a:t>Postventa</a:t>
            </a:r>
            <a:r>
              <a:rPr lang="es-ES" sz="1400" dirty="0" smtClean="0"/>
              <a:t> </a:t>
            </a:r>
            <a:r>
              <a:rPr lang="es-ES" sz="1400" dirty="0"/>
              <a:t>sigue siendo un punto débil, pero menos </a:t>
            </a:r>
            <a:r>
              <a:rPr lang="es-ES" sz="1400" dirty="0" smtClean="0"/>
              <a:t>crítico junto a la experiencia de producto.</a:t>
            </a:r>
            <a:endParaRPr lang="es-ES" sz="1400" dirty="0"/>
          </a:p>
        </p:txBody>
      </p:sp>
      <p:sp>
        <p:nvSpPr>
          <p:cNvPr id="6" name="Rectángulo 5"/>
          <p:cNvSpPr/>
          <p:nvPr/>
        </p:nvSpPr>
        <p:spPr>
          <a:xfrm>
            <a:off x="581193" y="5658117"/>
            <a:ext cx="6096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i="1" dirty="0" err="1" smtClean="0"/>
              <a:t>Insight</a:t>
            </a:r>
            <a:r>
              <a:rPr lang="es-ES" b="1" i="1" dirty="0" smtClean="0"/>
              <a:t> clave:</a:t>
            </a:r>
          </a:p>
          <a:p>
            <a:r>
              <a:rPr lang="es-ES" sz="1400" dirty="0" smtClean="0"/>
              <a:t>Los </a:t>
            </a:r>
            <a:r>
              <a:rPr lang="es-ES" sz="1400" dirty="0"/>
              <a:t>problemas de entrega son el principal </a:t>
            </a:r>
            <a:r>
              <a:rPr lang="es-ES" sz="1400" dirty="0" smtClean="0"/>
              <a:t>factor </a:t>
            </a:r>
            <a:r>
              <a:rPr lang="es-ES" sz="1400" dirty="0"/>
              <a:t>de insatisfacción en Sonic </a:t>
            </a:r>
            <a:r>
              <a:rPr lang="es-ES" sz="1400" dirty="0" err="1"/>
              <a:t>Direct</a:t>
            </a:r>
            <a:r>
              <a:rPr lang="es-ES" sz="1400" dirty="0"/>
              <a:t>, con un nivel de negatividad significativamente alto.</a:t>
            </a:r>
          </a:p>
        </p:txBody>
      </p:sp>
      <p:sp>
        <p:nvSpPr>
          <p:cNvPr id="7" name="Rectángulo 6"/>
          <p:cNvSpPr/>
          <p:nvPr/>
        </p:nvSpPr>
        <p:spPr>
          <a:xfrm>
            <a:off x="581193" y="4743668"/>
            <a:ext cx="5403843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1" dirty="0" err="1"/>
              <a:t>Insight</a:t>
            </a:r>
            <a:r>
              <a:rPr lang="es-ES" b="1" i="1" dirty="0"/>
              <a:t> </a:t>
            </a:r>
            <a:r>
              <a:rPr lang="es-ES" b="1" i="1" dirty="0" smtClean="0"/>
              <a:t>comparativo:</a:t>
            </a:r>
            <a:endParaRPr lang="es-ES" b="1" i="1" dirty="0"/>
          </a:p>
          <a:p>
            <a:r>
              <a:rPr lang="es-ES" sz="1400" dirty="0" smtClean="0"/>
              <a:t>Aunque </a:t>
            </a:r>
            <a:r>
              <a:rPr lang="es-ES" sz="1400" dirty="0"/>
              <a:t>la logística es un problema en todo el sector, Sonic </a:t>
            </a:r>
            <a:r>
              <a:rPr lang="es-ES" sz="1400" dirty="0" err="1"/>
              <a:t>Direct</a:t>
            </a:r>
            <a:r>
              <a:rPr lang="es-ES" sz="1400" dirty="0"/>
              <a:t> presenta un rendimiento peor que la competencia en este aspecto.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2107113"/>
            <a:ext cx="5403843" cy="252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4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b="1" i="1" dirty="0" err="1" smtClean="0"/>
              <a:t>Worldcloud</a:t>
            </a:r>
            <a:r>
              <a:rPr lang="es-ES" dirty="0"/>
              <a:t/>
            </a:r>
            <a:br>
              <a:rPr lang="es-ES" dirty="0"/>
            </a:br>
            <a:r>
              <a:rPr lang="es-ES" sz="2000" dirty="0" err="1" smtClean="0"/>
              <a:t>sonicdirect</a:t>
            </a:r>
            <a:r>
              <a:rPr lang="es-ES" sz="2000" dirty="0" smtClean="0"/>
              <a:t> - Competencia</a:t>
            </a:r>
            <a:endParaRPr lang="es-ES" sz="2400" dirty="0"/>
          </a:p>
        </p:txBody>
      </p:sp>
      <p:sp>
        <p:nvSpPr>
          <p:cNvPr id="4" name="Rectángulo 3"/>
          <p:cNvSpPr/>
          <p:nvPr/>
        </p:nvSpPr>
        <p:spPr>
          <a:xfrm>
            <a:off x="975475" y="4934873"/>
            <a:ext cx="436507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1" dirty="0"/>
              <a:t>Interpretación</a:t>
            </a:r>
            <a:r>
              <a:rPr lang="es-ES" b="1" i="1" dirty="0" smtClean="0"/>
              <a:t>:</a:t>
            </a:r>
          </a:p>
          <a:p>
            <a:r>
              <a:rPr lang="es-ES" sz="1400" dirty="0" smtClean="0"/>
              <a:t>Las </a:t>
            </a:r>
            <a:r>
              <a:rPr lang="es-ES" sz="1400" dirty="0"/>
              <a:t>palabras más frecuentes son “</a:t>
            </a:r>
            <a:r>
              <a:rPr lang="es-ES" sz="1400" dirty="0" err="1"/>
              <a:t>delivery</a:t>
            </a:r>
            <a:r>
              <a:rPr lang="es-ES" sz="1400" dirty="0"/>
              <a:t>”, “</a:t>
            </a:r>
            <a:r>
              <a:rPr lang="es-ES" sz="1400" dirty="0" err="1"/>
              <a:t>product</a:t>
            </a:r>
            <a:r>
              <a:rPr lang="es-ES" sz="1400" dirty="0"/>
              <a:t>”, “</a:t>
            </a:r>
            <a:r>
              <a:rPr lang="es-ES" sz="1400" dirty="0" err="1"/>
              <a:t>service</a:t>
            </a:r>
            <a:r>
              <a:rPr lang="es-ES" sz="1400" dirty="0" smtClean="0"/>
              <a:t>”.</a:t>
            </a:r>
          </a:p>
          <a:p>
            <a:r>
              <a:rPr lang="es-ES" sz="1400" dirty="0" smtClean="0"/>
              <a:t>Esto </a:t>
            </a:r>
            <a:r>
              <a:rPr lang="es-ES" sz="1400" dirty="0"/>
              <a:t>refuerza que los temas clave del análisis son logística y experiencia de compra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96" y="2467416"/>
            <a:ext cx="3966209" cy="2117552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6568296" y="4934873"/>
            <a:ext cx="436507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1" dirty="0"/>
              <a:t>Interpretación</a:t>
            </a:r>
            <a:r>
              <a:rPr lang="es-ES" b="1" i="1" dirty="0" smtClean="0"/>
              <a:t>:</a:t>
            </a:r>
          </a:p>
          <a:p>
            <a:r>
              <a:rPr lang="es-ES" sz="1400" dirty="0" smtClean="0"/>
              <a:t>Las </a:t>
            </a:r>
            <a:r>
              <a:rPr lang="es-ES" sz="1400" dirty="0"/>
              <a:t>palabras más frecuentes son “</a:t>
            </a:r>
            <a:r>
              <a:rPr lang="es-ES" sz="1400" dirty="0" err="1"/>
              <a:t>delivery</a:t>
            </a:r>
            <a:r>
              <a:rPr lang="es-ES" sz="1400" dirty="0"/>
              <a:t>”, </a:t>
            </a:r>
            <a:r>
              <a:rPr lang="es-ES" sz="1400" dirty="0" smtClean="0"/>
              <a:t>“</a:t>
            </a:r>
            <a:r>
              <a:rPr lang="es-ES" sz="1400" dirty="0" err="1" smtClean="0"/>
              <a:t>order</a:t>
            </a:r>
            <a:r>
              <a:rPr lang="es-ES" sz="1400" dirty="0" smtClean="0"/>
              <a:t>”, time”.</a:t>
            </a:r>
          </a:p>
          <a:p>
            <a:r>
              <a:rPr lang="es-ES" sz="1400" dirty="0" smtClean="0"/>
              <a:t>Esto indica que los temas más clave en los </a:t>
            </a:r>
            <a:r>
              <a:rPr lang="es-ES" sz="1400" dirty="0" err="1" smtClean="0"/>
              <a:t>topics</a:t>
            </a:r>
            <a:r>
              <a:rPr lang="es-ES" sz="1400" dirty="0" smtClean="0"/>
              <a:t> de la competencia hacen referencia a logística y tiempo de envío</a:t>
            </a:r>
            <a:endParaRPr lang="es-ES" sz="1400" dirty="0"/>
          </a:p>
        </p:txBody>
      </p:sp>
      <p:cxnSp>
        <p:nvCxnSpPr>
          <p:cNvPr id="11" name="Conector recto 10"/>
          <p:cNvCxnSpPr/>
          <p:nvPr/>
        </p:nvCxnSpPr>
        <p:spPr>
          <a:xfrm>
            <a:off x="5735274" y="2118747"/>
            <a:ext cx="39432" cy="4047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475" y="2467416"/>
            <a:ext cx="3966209" cy="211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3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b="1" i="1" dirty="0" err="1" smtClean="0"/>
              <a:t>Bertopic</a:t>
            </a:r>
            <a:r>
              <a:rPr lang="es-ES" b="1" i="1" dirty="0" smtClean="0"/>
              <a:t> - </a:t>
            </a:r>
            <a:r>
              <a:rPr lang="es-ES" b="1" i="1" dirty="0" err="1" smtClean="0"/>
              <a:t>sonicdirect</a:t>
            </a:r>
            <a:endParaRPr lang="es-ES" sz="2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255" y="2068395"/>
            <a:ext cx="4058303" cy="200865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3" y="4202885"/>
            <a:ext cx="5366601" cy="67690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261" y="5005625"/>
            <a:ext cx="774919" cy="1442211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5245" y="5005625"/>
            <a:ext cx="758496" cy="1442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2691" y="5005625"/>
            <a:ext cx="729208" cy="1442211"/>
          </a:xfrm>
          <a:prstGeom prst="rect">
            <a:avLst/>
          </a:prstGeom>
        </p:spPr>
      </p:pic>
      <p:cxnSp>
        <p:nvCxnSpPr>
          <p:cNvPr id="15" name="Conector recto de flecha 14"/>
          <p:cNvCxnSpPr/>
          <p:nvPr/>
        </p:nvCxnSpPr>
        <p:spPr>
          <a:xfrm>
            <a:off x="2038525" y="5726730"/>
            <a:ext cx="6123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1086" y="5647475"/>
            <a:ext cx="774259" cy="158510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6864181" y="3251299"/>
            <a:ext cx="46371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/>
              <a:t>Insight</a:t>
            </a:r>
            <a:r>
              <a:rPr lang="es-ES" b="1" dirty="0"/>
              <a:t>: </a:t>
            </a:r>
            <a:endParaRPr lang="es-ES" b="1" dirty="0" smtClean="0"/>
          </a:p>
          <a:p>
            <a:r>
              <a:rPr lang="es-ES" dirty="0" err="1" smtClean="0"/>
              <a:t>BERTopic</a:t>
            </a:r>
            <a:r>
              <a:rPr lang="es-ES" dirty="0" smtClean="0"/>
              <a:t> </a:t>
            </a:r>
            <a:r>
              <a:rPr lang="es-ES" dirty="0"/>
              <a:t>refuerza que los principales focos en Sonic </a:t>
            </a:r>
            <a:r>
              <a:rPr lang="es-ES" dirty="0" err="1"/>
              <a:t>Direct</a:t>
            </a:r>
            <a:r>
              <a:rPr lang="es-ES" dirty="0"/>
              <a:t> </a:t>
            </a:r>
            <a:r>
              <a:rPr lang="es-ES" dirty="0" smtClean="0"/>
              <a:t>están </a:t>
            </a:r>
            <a:r>
              <a:rPr lang="es-ES" dirty="0"/>
              <a:t>en entrega, compra y servicio, aunque solo el bloque de producto, precio y </a:t>
            </a:r>
            <a:r>
              <a:rPr lang="es-ES" dirty="0" smtClean="0"/>
              <a:t>atención </a:t>
            </a:r>
            <a:r>
              <a:rPr lang="es-ES" dirty="0"/>
              <a:t>comercial presenta una lectura mas positiva.</a:t>
            </a:r>
          </a:p>
        </p:txBody>
      </p:sp>
    </p:spTree>
    <p:extLst>
      <p:ext uri="{BB962C8B-B14F-4D97-AF65-F5344CB8AC3E}">
        <p14:creationId xmlns:p14="http://schemas.microsoft.com/office/powerpoint/2010/main" val="81544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b="1" i="1" dirty="0" err="1" smtClean="0"/>
              <a:t>Bertopic</a:t>
            </a:r>
            <a:r>
              <a:rPr lang="es-ES" b="1" i="1" dirty="0" smtClean="0"/>
              <a:t> - competencia</a:t>
            </a:r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1999718"/>
            <a:ext cx="3839805" cy="447266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4734529"/>
            <a:ext cx="4818077" cy="1670492"/>
          </a:xfrm>
          <a:prstGeom prst="rect">
            <a:avLst/>
          </a:prstGeom>
        </p:spPr>
      </p:pic>
      <p:cxnSp>
        <p:nvCxnSpPr>
          <p:cNvPr id="7" name="Conector angular 6"/>
          <p:cNvCxnSpPr>
            <a:stCxn id="4" idx="3"/>
          </p:cNvCxnSpPr>
          <p:nvPr/>
        </p:nvCxnSpPr>
        <p:spPr>
          <a:xfrm>
            <a:off x="4420998" y="4236049"/>
            <a:ext cx="1526796" cy="11827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/>
        </p:nvSpPr>
        <p:spPr>
          <a:xfrm>
            <a:off x="6096000" y="1966725"/>
            <a:ext cx="481807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/>
              <a:t>Insight</a:t>
            </a:r>
            <a:r>
              <a:rPr lang="es-ES" b="1" dirty="0"/>
              <a:t>: </a:t>
            </a:r>
            <a:endParaRPr lang="es-ES" b="1" dirty="0" smtClean="0"/>
          </a:p>
          <a:p>
            <a:r>
              <a:rPr lang="es-ES" sz="1600" dirty="0" smtClean="0"/>
              <a:t>En </a:t>
            </a:r>
            <a:r>
              <a:rPr lang="es-ES" sz="1600" dirty="0"/>
              <a:t>la competencia, </a:t>
            </a:r>
            <a:r>
              <a:rPr lang="es-ES" sz="1600" dirty="0" err="1"/>
              <a:t>BERTopic</a:t>
            </a:r>
            <a:r>
              <a:rPr lang="es-ES" sz="1600" dirty="0"/>
              <a:t> detecta una estructura mucho </a:t>
            </a:r>
            <a:r>
              <a:rPr lang="es-ES" sz="1600" dirty="0" smtClean="0"/>
              <a:t>más </a:t>
            </a:r>
            <a:r>
              <a:rPr lang="es-ES" sz="1600" dirty="0"/>
              <a:t>variada y granular que en Sonic </a:t>
            </a:r>
            <a:r>
              <a:rPr lang="es-ES" sz="1600" dirty="0" err="1"/>
              <a:t>Direct</a:t>
            </a:r>
            <a:r>
              <a:rPr lang="es-ES" sz="1600" dirty="0"/>
              <a:t>, lo que refleja la mayor heterogeneidad del sector. Aun </a:t>
            </a:r>
            <a:r>
              <a:rPr lang="es-ES" sz="1600" dirty="0" smtClean="0"/>
              <a:t>así, </a:t>
            </a:r>
            <a:r>
              <a:rPr lang="es-ES" sz="1600" dirty="0"/>
              <a:t>los temas </a:t>
            </a:r>
            <a:r>
              <a:rPr lang="es-ES" sz="1600" dirty="0" smtClean="0"/>
              <a:t>más </a:t>
            </a:r>
            <a:r>
              <a:rPr lang="es-ES" sz="1600" dirty="0"/>
              <a:t>repetidos vuelven a concentrarse en producto, </a:t>
            </a:r>
            <a:r>
              <a:rPr lang="es-ES" sz="1600" dirty="0" smtClean="0"/>
              <a:t>logística, </a:t>
            </a:r>
            <a:r>
              <a:rPr lang="es-ES" sz="1600" dirty="0"/>
              <a:t>soporte y compra online, y en la </a:t>
            </a:r>
            <a:r>
              <a:rPr lang="es-ES" sz="1600" dirty="0" smtClean="0"/>
              <a:t>mayoría </a:t>
            </a:r>
            <a:r>
              <a:rPr lang="es-ES" sz="1600" dirty="0"/>
              <a:t>sigue predominando el sentimiento negativo</a:t>
            </a:r>
            <a:r>
              <a:rPr lang="es-ES" sz="1600" dirty="0" smtClean="0"/>
              <a:t>.</a:t>
            </a:r>
          </a:p>
          <a:p>
            <a:r>
              <a:rPr lang="es-ES" sz="1600" dirty="0" smtClean="0"/>
              <a:t>Finalmente en la competencia realizamos un mapeo más legible para el análisis donde </a:t>
            </a:r>
            <a:r>
              <a:rPr lang="es-ES" sz="1600" dirty="0" err="1" smtClean="0"/>
              <a:t>topics</a:t>
            </a:r>
            <a:r>
              <a:rPr lang="es-ES" sz="1600" dirty="0" smtClean="0"/>
              <a:t> de temas muy similares se concentran en uno solo.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47426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ángulo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39" y="5287418"/>
            <a:ext cx="11029616" cy="718870"/>
          </a:xfrm>
        </p:spPr>
        <p:txBody>
          <a:bodyPr rtlCol="0">
            <a:normAutofit/>
          </a:bodyPr>
          <a:lstStyle/>
          <a:p>
            <a:pPr algn="ctr" rtl="0"/>
            <a:r>
              <a:rPr lang="es-ES" dirty="0" smtClean="0">
                <a:solidFill>
                  <a:srgbClr val="FFFEFF"/>
                </a:solidFill>
              </a:rPr>
              <a:t>Conclusiones finales y medidas de mejora</a:t>
            </a:r>
            <a:endParaRPr lang="es-ES" dirty="0">
              <a:solidFill>
                <a:srgbClr val="FFFEFF"/>
              </a:solidFill>
            </a:endParaRP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70417"/>
              </p:ext>
            </p:extLst>
          </p:nvPr>
        </p:nvGraphicFramePr>
        <p:xfrm>
          <a:off x="805344" y="447394"/>
          <a:ext cx="10316670" cy="456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8335">
                  <a:extLst>
                    <a:ext uri="{9D8B030D-6E8A-4147-A177-3AD203B41FA5}">
                      <a16:colId xmlns:a16="http://schemas.microsoft.com/office/drawing/2014/main" val="3825263458"/>
                    </a:ext>
                  </a:extLst>
                </a:gridCol>
                <a:gridCol w="5158335">
                  <a:extLst>
                    <a:ext uri="{9D8B030D-6E8A-4147-A177-3AD203B41FA5}">
                      <a16:colId xmlns:a16="http://schemas.microsoft.com/office/drawing/2014/main" val="1875696273"/>
                    </a:ext>
                  </a:extLst>
                </a:gridCol>
              </a:tblGrid>
              <a:tr h="336199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Conclusiones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Mejoras a realizar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20620"/>
                  </a:ext>
                </a:extLst>
              </a:tr>
              <a:tr h="588349"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 Sonic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predominan claramente las reseñas negativas, y el porcentaje sale ligeramente peor que en la competencia agregada.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Reforzar la logística de entrega para reducir retrasos, errores y pedidos que no llegan en las condiciones esperadas.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143885"/>
                  </a:ext>
                </a:extLst>
              </a:tr>
              <a:tr h="588349"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mal resultado no parece venir solo de una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percepcion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general de marca, sino de problemas concretos que se repiten en entrega, postventa e incidencias de servicio.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Mejorar la coordinación de instalación y puesta en marcha, sobre todo en productos donde el cliente espera una experiencia mas guiada.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441810"/>
                  </a:ext>
                </a:extLst>
              </a:tr>
              <a:tr h="756449"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único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topic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Sonic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 balance claramente positivo es ”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Appliance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purchase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installation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experience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así que no toda la experiencia del cliente funciona mal.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Revisar el proceso de postventa para que las incidencias se resuelvan mas rápido y con menos fricción para el cliente.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dirty="0" smtClean="0"/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630300"/>
                  </a:ext>
                </a:extLst>
              </a:tr>
              <a:tr h="756449"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 bloques mas problemáticos son ”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issues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problems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 y ”TV and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electronics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issues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que concentran los peores niveles de sentimiento negativo.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 más capacidad de respuesta al equipo de atención al cliente, porque el servicio aparece como uno de los puntos mas sensibles en las reseñas negativas.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82422"/>
                  </a:ext>
                </a:extLst>
              </a:tr>
              <a:tr h="756449"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relación entre sentimiento y estrellas es coherente, porque las reseñas negativas tienen medias de estrellas mucho mas bajas que las positivas, lo que refuerza la validez del análisis.</a:t>
                      </a:r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Crear un seguimiento mas claro después de la compra, con avisos de estado, confirmación de entrega y soporte mas visible.</a:t>
                      </a:r>
                      <a:endParaRPr lang="es-ES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39936"/>
                  </a:ext>
                </a:extLst>
              </a:tr>
              <a:tr h="672399"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Frente a la competencia, Sonic </a:t>
                      </a:r>
                      <a:r>
                        <a:rPr lang="es-ES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</a:t>
                      </a:r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parece defenderse relativamente mejor en la fase comercial inicial que en la ejecución posterior a la compra.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Tomar como referencia los puntos donde la empresa si funciona mejor, como la parte comercial y algunos procesos de compra, para intentar trasladar esas buenas practicas a la fase operativa.</a:t>
                      </a:r>
                      <a:endParaRPr lang="es-ES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7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46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Dividendo para tecnología</Template>
  <TotalTime>0</TotalTime>
  <Words>1014</Words>
  <Application>Microsoft Office PowerPoint</Application>
  <PresentationFormat>Panorámica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Bauhaus 93</vt:lpstr>
      <vt:lpstr>Calibri</vt:lpstr>
      <vt:lpstr>Gill Sans MT</vt:lpstr>
      <vt:lpstr>Segoe WPC</vt:lpstr>
      <vt:lpstr>Wingdings 2</vt:lpstr>
      <vt:lpstr>Dividendo</vt:lpstr>
      <vt:lpstr>Análisis de reseñas en Trust Pilot </vt:lpstr>
      <vt:lpstr>Objetivos del análisis</vt:lpstr>
      <vt:lpstr>Análisis de sentimiento </vt:lpstr>
      <vt:lpstr>Análisis de Topics: k-means + bert</vt:lpstr>
      <vt:lpstr>Análisis de Topics: Distribución de reviews</vt:lpstr>
      <vt:lpstr>Análisis de Topics: Comparación de sentimiento</vt:lpstr>
      <vt:lpstr>Análisis de Topics: k-means + bert</vt:lpstr>
      <vt:lpstr>Worldcloud sonicdirect - Competencia</vt:lpstr>
      <vt:lpstr>Bertopic - sonicdirect</vt:lpstr>
      <vt:lpstr>Bertopic - competencia</vt:lpstr>
      <vt:lpstr>Conclusiones finales y medidas de mejora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2026-04-15T22:16:13Z</dcterms:created>
  <dcterms:modified xsi:type="dcterms:W3CDTF">2026-04-18T15:36:52Z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