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1" r:id="rId6"/>
    <p:sldId id="258" r:id="rId7"/>
    <p:sldId id="262" r:id="rId8"/>
    <p:sldId id="263" r:id="rId9"/>
    <p:sldId id="264" r:id="rId10"/>
    <p:sldId id="259" r:id="rId11"/>
    <p:sldId id="260" r:id="rId12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Nube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Local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Híbrido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s-ES"/>
        </a:p>
      </dgm:t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  <dgm:t>
        <a:bodyPr/>
        <a:lstStyle/>
        <a:p>
          <a:endParaRPr lang="es-ES"/>
        </a:p>
      </dgm:t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lvl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3500" kern="1200" noProof="0" dirty="0"/>
            <a:t>Nube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lvl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3500" kern="1200" noProof="0" dirty="0"/>
            <a:t>Local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lvl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3500" kern="1200" noProof="0" dirty="0"/>
            <a:t>Híbrido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957B284-434F-4737-87F6-3C1E78FB2C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727AB7-3970-4FE4-A134-9D1EEE3EAD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B8E98-EB83-4166-8CDF-F8D5CC97446D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C17C43-A4DD-44E5-B373-511461F876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C40B9-1970-4F62-BE22-5883A05E9A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5CBA8-3118-4264-9DB3-F09EDF8E1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3798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9F1FC-52BF-40A0-B8CD-E5DB9AB207F2}" type="datetimeFigureOut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CC092-CABA-48D0-B3F7-B535EA5228F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3344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95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71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6694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6548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4273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7308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8941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943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F3AD093-6935-4E25-8E83-BEC3D2E3622E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CF8AC2-1C52-4F78-88EE-331D670B19A5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E6CF4E9-F423-4970-91B6-143DF72FA056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955445-6089-478A-9DA1-4738AC4A8C11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2D574B-5FDE-4FDF-8F45-99828D8C688F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9631C6-D8ED-4343-819F-B7AEF7D4E056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6FA238-7AE4-47C1-BF2A-706B9C8FFAA8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E6D5EDF-0088-49D6-AAFA-F513F5E3B893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E0ACB-2DC9-41EC-A846-D82D047DE411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FE6873-B7CD-47F1-B4BA-70026F4A4FD4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6AA1814-B970-47C5-B4E1-BCA0D77E15F3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8DB00A2C-96CA-430C-81E9-81B790CC7C63}" type="datetime1">
              <a:rPr lang="es-ES" noProof="0" smtClean="0"/>
              <a:t>16/04/2026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850" y="1045875"/>
            <a:ext cx="10993549" cy="895244"/>
          </a:xfrm>
        </p:spPr>
        <p:txBody>
          <a:bodyPr rtlCol="0">
            <a:noAutofit/>
          </a:bodyPr>
          <a:lstStyle/>
          <a:p>
            <a:r>
              <a:rPr lang="en" sz="4800" dirty="0">
                <a:solidFill>
                  <a:schemeClr val="bg1"/>
                </a:solidFill>
              </a:rPr>
              <a:t>Análisis de reseñas en Trust Pilot </a:t>
            </a:r>
            <a:endParaRPr lang="es-ES" sz="45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469" y="4911071"/>
            <a:ext cx="11699191" cy="1227216"/>
          </a:xfrm>
        </p:spPr>
        <p:txBody>
          <a:bodyPr rtlCol="0">
            <a:normAutofit fontScale="47500" lnSpcReduction="20000"/>
          </a:bodyPr>
          <a:lstStyle/>
          <a:p>
            <a:pPr algn="ctr"/>
            <a:r>
              <a:rPr lang="es-ES" sz="17600" dirty="0" err="1">
                <a:solidFill>
                  <a:schemeClr val="bg1"/>
                </a:solidFill>
                <a:latin typeface="Bauhaus 93" panose="04030905020B02020C02" pitchFamily="82" charset="0"/>
              </a:rPr>
              <a:t>sonicdirect</a:t>
            </a:r>
            <a:endParaRPr lang="es-ES" sz="17600" dirty="0">
              <a:solidFill>
                <a:schemeClr val="bg1"/>
              </a:solidFill>
              <a:latin typeface="Bauhaus 93" panose="04030905020B02020C02" pitchFamily="82" charset="0"/>
            </a:endParaRPr>
          </a:p>
          <a:p>
            <a:pPr rtl="0"/>
            <a:endParaRPr lang="es-ES" dirty="0">
              <a:solidFill>
                <a:srgbClr val="7CEBFF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333" y="4458388"/>
            <a:ext cx="1901853" cy="190185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4" y="4428067"/>
            <a:ext cx="1902117" cy="190211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417739" y="2404480"/>
            <a:ext cx="9301520" cy="1262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/>
          <p:cNvSpPr/>
          <p:nvPr/>
        </p:nvSpPr>
        <p:spPr>
          <a:xfrm>
            <a:off x="2470693" y="2373868"/>
            <a:ext cx="72455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 err="1" smtClean="0">
                <a:solidFill>
                  <a:schemeClr val="bg1"/>
                </a:solidFill>
                <a:latin typeface="Bauhaus 93" panose="04030905020B02020C02" pitchFamily="82" charset="0"/>
              </a:rPr>
              <a:t>Bert</a:t>
            </a:r>
            <a:r>
              <a:rPr lang="es-ES" sz="4000" b="1" dirty="0" smtClean="0">
                <a:solidFill>
                  <a:schemeClr val="bg1"/>
                </a:solidFill>
                <a:latin typeface="Bauhaus 93" panose="04030905020B02020C02" pitchFamily="82" charset="0"/>
              </a:rPr>
              <a:t> + K-</a:t>
            </a:r>
            <a:r>
              <a:rPr lang="es-ES" sz="4000" b="1" dirty="0" err="1" smtClean="0">
                <a:solidFill>
                  <a:schemeClr val="bg1"/>
                </a:solidFill>
                <a:latin typeface="Bauhaus 93" panose="04030905020B02020C02" pitchFamily="82" charset="0"/>
              </a:rPr>
              <a:t>means</a:t>
            </a:r>
            <a:r>
              <a:rPr lang="es-ES" sz="4000" b="1" dirty="0" smtClean="0">
                <a:solidFill>
                  <a:schemeClr val="bg1"/>
                </a:solidFill>
                <a:latin typeface="Bauhaus 93" panose="04030905020B02020C02" pitchFamily="82" charset="0"/>
              </a:rPr>
              <a:t> y comparativa con </a:t>
            </a:r>
            <a:r>
              <a:rPr lang="es-ES" sz="4000" b="1" dirty="0" err="1" smtClean="0">
                <a:solidFill>
                  <a:schemeClr val="bg1"/>
                </a:solidFill>
                <a:latin typeface="Bauhaus 93" panose="04030905020B02020C02" pitchFamily="82" charset="0"/>
              </a:rPr>
              <a:t>BERTopic</a:t>
            </a:r>
            <a:endParaRPr lang="es-ES" sz="4000" b="1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ángulo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39" y="5287418"/>
            <a:ext cx="11029616" cy="718870"/>
          </a:xfrm>
        </p:spPr>
        <p:txBody>
          <a:bodyPr rtlCol="0">
            <a:normAutofit/>
          </a:bodyPr>
          <a:lstStyle/>
          <a:p>
            <a:pPr algn="ctr" rtl="0"/>
            <a:r>
              <a:rPr lang="es-ES" dirty="0" smtClean="0">
                <a:solidFill>
                  <a:srgbClr val="FFFEFF"/>
                </a:solidFill>
              </a:rPr>
              <a:t>Objetivos del análisis</a:t>
            </a:r>
            <a:endParaRPr lang="es-ES" dirty="0">
              <a:solidFill>
                <a:srgbClr val="FFFEFF"/>
              </a:solidFill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84992"/>
              </p:ext>
            </p:extLst>
          </p:nvPr>
        </p:nvGraphicFramePr>
        <p:xfrm>
          <a:off x="611475" y="690503"/>
          <a:ext cx="1096354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1772">
                  <a:extLst>
                    <a:ext uri="{9D8B030D-6E8A-4147-A177-3AD203B41FA5}">
                      <a16:colId xmlns:a16="http://schemas.microsoft.com/office/drawing/2014/main" val="3825263458"/>
                    </a:ext>
                  </a:extLst>
                </a:gridCol>
                <a:gridCol w="5481772">
                  <a:extLst>
                    <a:ext uri="{9D8B030D-6E8A-4147-A177-3AD203B41FA5}">
                      <a16:colId xmlns:a16="http://schemas.microsoft.com/office/drawing/2014/main" val="1875696273"/>
                    </a:ext>
                  </a:extLst>
                </a:gridCol>
              </a:tblGrid>
              <a:tr h="355611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Objetivos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Tareas a realizar y observaciones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20620"/>
                  </a:ext>
                </a:extLst>
              </a:tr>
              <a:tr h="62231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Analizar reseñas de </a:t>
                      </a:r>
                      <a:r>
                        <a:rPr lang="es-ES" sz="1200" dirty="0" err="1" smtClean="0"/>
                        <a:t>Trustpilot</a:t>
                      </a:r>
                      <a:r>
                        <a:rPr lang="es-ES" sz="1200" dirty="0" smtClean="0"/>
                        <a:t> de Sonic </a:t>
                      </a:r>
                      <a:r>
                        <a:rPr lang="es-ES" sz="1200" dirty="0" err="1" smtClean="0"/>
                        <a:t>Direct</a:t>
                      </a:r>
                      <a:r>
                        <a:rPr lang="es-ES" sz="1200" dirty="0" smtClean="0"/>
                        <a:t> dentro del sector </a:t>
                      </a:r>
                      <a:r>
                        <a:rPr lang="es-ES" sz="1200" dirty="0" err="1" smtClean="0"/>
                        <a:t>Electronics</a:t>
                      </a:r>
                      <a:r>
                        <a:rPr lang="es-ES" sz="1200" dirty="0" smtClean="0"/>
                        <a:t> &amp; </a:t>
                      </a:r>
                      <a:r>
                        <a:rPr lang="es-ES" sz="1200" dirty="0" err="1" smtClean="0"/>
                        <a:t>Technology</a:t>
                      </a:r>
                      <a:r>
                        <a:rPr lang="es-ES" sz="1200" dirty="0" smtClean="0"/>
                        <a:t>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Se tomó como empresa objetivo: www.sonicdirect.co.uk.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143885"/>
                  </a:ext>
                </a:extLst>
              </a:tr>
              <a:tr h="62231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Comparar su comportamiento frente a empresas competidoras del mismo sector.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Se filtró la competencia usando la misma categoría de </a:t>
                      </a:r>
                      <a:r>
                        <a:rPr lang="es-ES" sz="1200" dirty="0" err="1" smtClean="0"/>
                        <a:t>Trustpilot</a:t>
                      </a:r>
                      <a:r>
                        <a:rPr lang="es-ES" sz="1200" dirty="0" smtClean="0"/>
                        <a:t>: </a:t>
                      </a:r>
                      <a:r>
                        <a:rPr lang="es-ES" sz="1200" dirty="0" err="1" smtClean="0"/>
                        <a:t>Electronics</a:t>
                      </a:r>
                      <a:r>
                        <a:rPr lang="es-ES" sz="1200" dirty="0" smtClean="0"/>
                        <a:t> &amp; </a:t>
                      </a:r>
                      <a:r>
                        <a:rPr lang="es-ES" sz="1200" dirty="0" err="1" smtClean="0"/>
                        <a:t>Technology</a:t>
                      </a:r>
                      <a:r>
                        <a:rPr lang="es-ES" sz="1200" dirty="0" smtClean="0"/>
                        <a:t>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441810"/>
                  </a:ext>
                </a:extLst>
              </a:tr>
              <a:tr h="8001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Identificar los principales temas de conversación en las reseñas mediante NLP.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 smtClean="0"/>
                        <a:t>Dataset</a:t>
                      </a:r>
                      <a:r>
                        <a:rPr lang="es-ES" sz="1200" dirty="0" smtClean="0"/>
                        <a:t> total: 123.181 reseñas, con columnas </a:t>
                      </a:r>
                      <a:r>
                        <a:rPr lang="es-ES" sz="1200" dirty="0" err="1" smtClean="0"/>
                        <a:t>category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company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description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title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review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stars</a:t>
                      </a:r>
                      <a:r>
                        <a:rPr lang="es-ES" sz="1200" dirty="0" smtClean="0"/>
                        <a:t>. Sonic </a:t>
                      </a:r>
                      <a:r>
                        <a:rPr lang="es-ES" sz="1200" dirty="0" err="1" smtClean="0"/>
                        <a:t>Direct</a:t>
                      </a:r>
                      <a:r>
                        <a:rPr lang="es-ES" sz="1200" dirty="0" smtClean="0"/>
                        <a:t> tiene 100 reseñas.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 smtClean="0"/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630300"/>
                  </a:ext>
                </a:extLst>
              </a:tr>
              <a:tr h="44451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Medir el sentimiento de las reseñas y relacionarlo con los temas detectados.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La competencia tiene 5.496 reseñas, pertenecientes a 68 empresas del mismo sector.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82422"/>
                  </a:ext>
                </a:extLst>
              </a:tr>
              <a:tr h="62231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Detectar fortalezas y puntos de dolor de Sonic </a:t>
                      </a:r>
                      <a:r>
                        <a:rPr lang="es-ES" sz="1200" dirty="0" err="1" smtClean="0"/>
                        <a:t>Direct</a:t>
                      </a:r>
                      <a:r>
                        <a:rPr lang="es-ES" sz="1200" dirty="0" smtClean="0"/>
                        <a:t> frente a la competencia.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No se eliminaron nulos porque el </a:t>
                      </a:r>
                      <a:r>
                        <a:rPr lang="es-ES" sz="1200" dirty="0" err="1" smtClean="0"/>
                        <a:t>dataset</a:t>
                      </a:r>
                      <a:r>
                        <a:rPr lang="es-ES" sz="1200" dirty="0" smtClean="0"/>
                        <a:t> no tiene valores nulos en las columnas usadas.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39936"/>
                  </a:ext>
                </a:extLst>
              </a:tr>
              <a:tr h="71122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Extraer conclusiones accionables sobre experiencia de compra, entrega, instalación, producto y postventa.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No se eliminaron duplicados porque no hay duplicados completos ni duplicados por </a:t>
                      </a:r>
                      <a:r>
                        <a:rPr lang="es-ES" sz="1200" dirty="0" err="1" smtClean="0"/>
                        <a:t>company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title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review</a:t>
                      </a:r>
                      <a:r>
                        <a:rPr lang="es-ES" sz="1200" dirty="0" smtClean="0"/>
                        <a:t>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7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Análisis de sentimiento 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4" y="2096015"/>
            <a:ext cx="3584406" cy="245578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47" y="4708127"/>
            <a:ext cx="2612754" cy="162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Análisis de </a:t>
            </a:r>
            <a:r>
              <a:rPr lang="es-ES" dirty="0" err="1" smtClean="0"/>
              <a:t>Topics</a:t>
            </a:r>
            <a:r>
              <a:rPr lang="es-ES" dirty="0"/>
              <a:t>:</a:t>
            </a:r>
            <a:r>
              <a:rPr lang="es-ES" dirty="0" smtClean="0"/>
              <a:t> k-</a:t>
            </a:r>
            <a:r>
              <a:rPr lang="es-ES" dirty="0" err="1" smtClean="0"/>
              <a:t>means</a:t>
            </a:r>
            <a:r>
              <a:rPr lang="es-ES" dirty="0" smtClean="0"/>
              <a:t> + </a:t>
            </a:r>
            <a:r>
              <a:rPr lang="es-ES" dirty="0" err="1" smtClean="0"/>
              <a:t>bert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2573866"/>
            <a:ext cx="6600163" cy="328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1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Análisis de </a:t>
            </a:r>
            <a:r>
              <a:rPr lang="es-ES" dirty="0" err="1" smtClean="0"/>
              <a:t>Topics</a:t>
            </a:r>
            <a:r>
              <a:rPr lang="es-ES" dirty="0"/>
              <a:t>:</a:t>
            </a:r>
            <a:r>
              <a:rPr lang="es-ES" dirty="0" smtClean="0"/>
              <a:t> k-</a:t>
            </a:r>
            <a:r>
              <a:rPr lang="es-ES" dirty="0" err="1" smtClean="0"/>
              <a:t>means</a:t>
            </a:r>
            <a:r>
              <a:rPr lang="es-ES" dirty="0" smtClean="0"/>
              <a:t> + </a:t>
            </a:r>
            <a:r>
              <a:rPr lang="es-ES" dirty="0" err="1" smtClean="0"/>
              <a:t>bert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2025330"/>
            <a:ext cx="3389674" cy="285568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067" y="2025330"/>
            <a:ext cx="3335866" cy="273541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377" y="2116667"/>
            <a:ext cx="4225557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2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err="1" smtClean="0"/>
              <a:t>Worldcloud</a:t>
            </a:r>
            <a:r>
              <a:rPr lang="es-ES" dirty="0" smtClean="0"/>
              <a:t> - </a:t>
            </a:r>
            <a:r>
              <a:rPr lang="es-ES" dirty="0" err="1" smtClean="0"/>
              <a:t>sonicdirect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2258707"/>
            <a:ext cx="5006807" cy="267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3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8" name="Marcador de posición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es-ES" dirty="0"/>
              <a:t>Comunicaciones digitales</a:t>
            </a:r>
          </a:p>
        </p:txBody>
      </p:sp>
      <p:graphicFrame>
        <p:nvGraphicFramePr>
          <p:cNvPr id="6" name="Marcador de posición de conteni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373358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chemeClr val="bg2"/>
                </a:solidFill>
              </a:rPr>
              <a:t>alguien@ejemplo.com</a:t>
            </a:r>
          </a:p>
          <a:p>
            <a:pPr rtl="0"/>
            <a:endParaRPr lang="es-ES">
              <a:solidFill>
                <a:schemeClr val="bg2"/>
              </a:solidFill>
            </a:endParaRPr>
          </a:p>
          <a:p>
            <a:pPr rtl="0"/>
            <a:endParaRPr lang="es-ES">
              <a:solidFill>
                <a:schemeClr val="bg2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Dividendo para tecnología</Template>
  <TotalTime>0</TotalTime>
  <Words>235</Words>
  <Application>Microsoft Office PowerPoint</Application>
  <PresentationFormat>Panorámica</PresentationFormat>
  <Paragraphs>36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Bauhaus 93</vt:lpstr>
      <vt:lpstr>Calibri</vt:lpstr>
      <vt:lpstr>Gill Sans MT</vt:lpstr>
      <vt:lpstr>Wingdings 2</vt:lpstr>
      <vt:lpstr>Dividendo</vt:lpstr>
      <vt:lpstr>Análisis de reseñas en Trust Pilot </vt:lpstr>
      <vt:lpstr>Objetivos del análisis</vt:lpstr>
      <vt:lpstr>Análisis de sentimiento </vt:lpstr>
      <vt:lpstr>Análisis de Topics: k-means + bert</vt:lpstr>
      <vt:lpstr>Análisis de Topics: k-means + bert</vt:lpstr>
      <vt:lpstr>Worldcloud - sonicdirect</vt:lpstr>
      <vt:lpstr>Comunicaciones digitales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2026-04-15T22:16:13Z</dcterms:created>
  <dcterms:modified xsi:type="dcterms:W3CDTF">2026-04-16T03:05:52Z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